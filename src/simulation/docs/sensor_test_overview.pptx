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9EC9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割草机器人 · 传感器仿真测试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传感器套件仿真测试方案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1×主 LiDAR ＋ 12×环形超声波 ＋ 2×侧向双目 ｜ 融合感知与安全避碰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商用高尔夫球场 · 足球场场景全要素覆盖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9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条测试用例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4434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42316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9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项障碍物库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4434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8912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9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张设计视图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4434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9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碰撞门禁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SIM-STD-0002 · V1.0 ｜ 依据规格 0002（独立评审 R2 pass）｜ 2026-10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被测对象 DUT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被测传感器套件与安全包络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1243584"/>
            <a:ext cx="7687141" cy="4315968"/>
          </a:xfrm>
          <a:prstGeom prst="roundRect">
            <a:avLst>
              <a:gd name="adj" fmla="val 1695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pic>
        <p:nvPicPr>
          <p:cNvPr id="5" name="Image 0" descr="src/simulation/docs/diagrams/03_sensor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9304"/>
            <a:ext cx="7595701" cy="4224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98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覆盖预算（已复核口径）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49640" y="1691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0.67 m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549640" y="24963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LiDAR 近地覆盖线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更低矮目标由超声兜底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30632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1.04 m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549640" y="38679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1.6 m/s 急停距离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超声 1.5 m 量程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49640" y="44348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≤250 ms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8549640" y="52395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安全通路端到端 P95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（融合输出 ≤200 ms）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场景世界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四类场景世界与环境矩阵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321040" cy="1042416"/>
          </a:xfrm>
          <a:prstGeom prst="roundRect">
            <a:avLst>
              <a:gd name="adj" fmla="val 5263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530352" cy="53035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54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4081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 校准场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73936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50×50 m 哑光地面 · AprilTag 阵列 · 可编程漫射光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0" y="14264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计量基线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8321040" cy="1042416"/>
          </a:xfrm>
          <a:prstGeom prst="roundRect">
            <a:avLst>
              <a:gd name="adj" fmla="val 5263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761488"/>
            <a:ext cx="530352" cy="53035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761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615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 商用高尔夫球场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980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球道 30×60 m · 果岭 Φ15 m · 沙坑×2 · 水塘 5×8 m · 球车道 · 喷头×8 · 旗杆洞杯 · 球车/行人/雁群动态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49440" y="2633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高尔夫专项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8321040" cy="1042416"/>
          </a:xfrm>
          <a:prstGeom prst="roundRect">
            <a:avLst>
              <a:gd name="adj" fmla="val 5263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968496"/>
            <a:ext cx="530352" cy="53035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968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8221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W2 足球场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87952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105×68 m 天然草 · 球门×2（柱+带网）· 角旗×4 · 广告围挡 · 训练器具 · 运动员 6–8 m/s · 夜场泛光 1800 lux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49440" y="38404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足球专项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919472"/>
            <a:ext cx="8321040" cy="1042416"/>
          </a:xfrm>
          <a:prstGeom prst="roundRect">
            <a:avLst>
              <a:gd name="adj" fmla="val 5263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5175504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5175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5029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W3 环境注入场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39496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光照 5 档（100 klux→夜场）· 雨/喷灌/雾（至 50 m）/露水 · 风 3/6/9 m/s · 温度 5–35 °C · 草被 4–120 mm · 坡度至 15°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49440" y="5047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环境鲁棒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9828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 环境矩阵（9 项）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98280" y="1691640"/>
            <a:ext cx="2651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ENV-1 光照 5 档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ENV-2 降雨 2/20 mm/h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ENV-3 喷灌水雾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ENV-4 雾霾 至 50 m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ENV-5 露水凝露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ENV-6 风 3/6/9 m/s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ENV-7 温度 5–35 °C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ENV-8 草被 4–120 mm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ENV-9 地形 0–15°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98280" y="5440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全部场景即代码：YAML + seed，同 seed 重跑结果完全一致（TC-F-13 强制）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障碍物介绍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障碍物规格库：50 项 · 四组分类 · 五要素规格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606875" y="1234440"/>
            <a:ext cx="8975202" cy="5340096"/>
          </a:xfrm>
          <a:prstGeom prst="roundRect">
            <a:avLst>
              <a:gd name="adj" fmla="val 1370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pic>
        <p:nvPicPr>
          <p:cNvPr id="5" name="Image 0" descr="src/simulation/docs/diagrams/04_obstacle_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739" y="1289304"/>
            <a:ext cx="8865474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架构设计类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测试框架分层架构：配置 → 场景 → 执行 → 判定输出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653948" y="1234440"/>
            <a:ext cx="8881055" cy="5340096"/>
          </a:xfrm>
          <a:prstGeom prst="roundRect">
            <a:avLst>
              <a:gd name="adj" fmla="val 1370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pic>
        <p:nvPicPr>
          <p:cNvPr id="5" name="Image 0" descr="src/simulation/docs/diagrams/01_framework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812" y="1289304"/>
            <a:ext cx="8771327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数据类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测试数据流：外部实体 / 处理过程 / 数据存储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04883" y="1234440"/>
            <a:ext cx="9179186" cy="5340096"/>
          </a:xfrm>
          <a:prstGeom prst="roundRect">
            <a:avLst>
              <a:gd name="adj" fmla="val 1370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pic>
        <p:nvPicPr>
          <p:cNvPr id="5" name="Image 0" descr="src/simulation/docs/diagrams/06_data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747" y="1289304"/>
            <a:ext cx="9069458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流程逻辑类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单条用例执行泳道：从装载配置到放行/整改回环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58433" y="1234440"/>
            <a:ext cx="9472087" cy="5340096"/>
          </a:xfrm>
          <a:prstGeom prst="roundRect">
            <a:avLst>
              <a:gd name="adj" fmla="val 1370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pic>
        <p:nvPicPr>
          <p:cNvPr id="5" name="Image 0" descr="src/simulation/docs/diagrams/02_execution_swim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3297" y="1289304"/>
            <a:ext cx="9362359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模块交互类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模块交互时序：run_tc 一次执行的完整调用链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00276" y="1234440"/>
            <a:ext cx="9388401" cy="5340096"/>
          </a:xfrm>
          <a:prstGeom prst="roundRect">
            <a:avLst>
              <a:gd name="adj" fmla="val 1370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pic>
        <p:nvPicPr>
          <p:cNvPr id="5" name="Image 0" descr="src/simulation/docs/diagrams/07_module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140" y="1289304"/>
            <a:ext cx="9278673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用例体系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 条测试用例与判定门禁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06624" cy="3017520"/>
          </a:xfrm>
          <a:prstGeom prst="roundRect">
            <a:avLst>
              <a:gd name="adj" fmla="val 2703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361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TC-L 主 LiDAR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98064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测距 ±30 mm · 角分辨 3°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旗杆 ≥98%@≤3 m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近地 0.67 m 内不考核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2424" y="1371600"/>
            <a:ext cx="2706624" cy="3017520"/>
          </a:xfrm>
          <a:prstGeom prst="roundRect">
            <a:avLst>
              <a:gd name="adj" fmla="val 2703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15361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E84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575304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TC-U 超声波 ×12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75304" y="2798064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通道精度 ±15 mm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串扰虚警 ≤1% · 环形 ≥71/72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高尔夫球 @0.3 m ≥90%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27648" y="1371600"/>
            <a:ext cx="2706624" cy="3017520"/>
          </a:xfrm>
          <a:prstGeom prst="roundRect">
            <a:avLst>
              <a:gd name="adj" fmla="val 2703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5361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510528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TC-C 双目 ×2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798064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 ≤max(30mm, 2.5%Z)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夜场泛光 ≥90%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左右同步 ≤1 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62872" y="1371600"/>
            <a:ext cx="2706624" cy="3017520"/>
          </a:xfrm>
          <a:prstGeom prst="roundRect">
            <a:avLst>
              <a:gd name="adj" fmla="val 2703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5752" y="15361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9445752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TC-F 融合感知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45752" y="2798064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完备性 ≥max(单传感器)−2pp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延迟 P95 200/250 ms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组合降级包线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DEDEC"/>
          </a:solidFill>
          <a:ln w="1778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64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安全专项（TC-F-09/10）—— 放行铁律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248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 + 动态避碰碰撞次数 = 0，不可豁免 ｜ 安全品类（人形/俯卧儿童/动物/车辆/pop-out/深负障碍）误分为可碾压 = 0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停止间隙 ≥50 mm @0.8 m/s、≥100 mm @1.6 m/s ｜ 触发距离一致性 σ ≤30 mm ｜ 每条件 ≥3 次重复 ×2 seed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融合感知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融合专项：互补、仲裁与降级包线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目标级精度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48840" y="13716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位置 ≤50 mm · 分类 10 类混淆对角 ≥90% · 安全类误分 = 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6355080" cy="0"/>
          </a:xfrm>
          <a:prstGeom prst="line">
            <a:avLst/>
          </a:prstGeom>
          <a:noFill/>
          <a:ln w="9525">
            <a:solidFill>
              <a:srgbClr val="E1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5798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检出完备性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48840" y="215798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每项 ≥ max(单传感器) − 2 pp · 全库 ≥95% · 安全品类 ≥98%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89504"/>
            <a:ext cx="6355080" cy="0"/>
          </a:xfrm>
          <a:prstGeom prst="line">
            <a:avLst/>
          </a:prstGeom>
          <a:noFill/>
          <a:ln w="9525">
            <a:solidFill>
              <a:srgbClr val="E1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443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虚警抑制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48840" y="29443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假障碍 ≤2 次/km · 假急停 ≤1 次/km（10 km 等效）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6355080" cy="0"/>
          </a:xfrm>
          <a:prstGeom prst="line">
            <a:avLst/>
          </a:prstGeom>
          <a:noFill/>
          <a:ln w="9525">
            <a:solidFill>
              <a:srgbClr val="E1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307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冲突仲裁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48840" y="37307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故障源 &gt;3σ 注入 → 2 s 内降权隔离 · 双影目标 = 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6355080" cy="0"/>
          </a:xfrm>
          <a:prstGeom prst="line">
            <a:avLst/>
          </a:prstGeom>
          <a:noFill/>
          <a:ln w="9525">
            <a:solidFill>
              <a:srgbClr val="E1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17136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动态跟踪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48840" y="451713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 切换 ≤1/50 遭遇 · 稳定轨迹 ≤300 ms · pop-out ≤3 帧检出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248656"/>
            <a:ext cx="6355080" cy="0"/>
          </a:xfrm>
          <a:prstGeom prst="line">
            <a:avLst/>
          </a:prstGeom>
          <a:noFill/>
          <a:ln w="9525">
            <a:solidFill>
              <a:srgbClr val="E1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303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确定复现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48840" y="53035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 seed 重跑 5 次输出哈希完全一致（TC-F-13）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780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组合降级包线（TC-F-08，摘选）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43000"/>
                <a:gridCol w="1508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禁用组合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全库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安全品类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仅超声在位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≥90% @≤0.8m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仅 LiDAR 在位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≥85%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≥90%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禁用 LiDAR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≥75%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≥90%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禁用超声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≥92%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≥95%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禁用双目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≥92%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≥95%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单侧双目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同侧 −5pp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对侧 −1pp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178040" y="4892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完整数值见 test_thresholds.yaml → degradation_envelope（7 组合逐项门禁，由测试强制对齐）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执行策略</a:t>
            </a:r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执行顺序与回归策略：四阶段门禁递进，安全最后且不可豁免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2336" y="1548695"/>
            <a:ext cx="11384280" cy="4711586"/>
          </a:xfrm>
          <a:prstGeom prst="roundRect">
            <a:avLst>
              <a:gd name="adj" fmla="val 1553"/>
            </a:avLst>
          </a:prstGeom>
          <a:solidFill>
            <a:srgbClr val="F2F5F8"/>
          </a:solidFill>
          <a:ln w="12700">
            <a:solidFill>
              <a:srgbClr val="D8E0E6"/>
            </a:solidFill>
            <a:prstDash val="solid"/>
          </a:ln>
        </p:spPr>
      </p:sp>
      <p:pic>
        <p:nvPicPr>
          <p:cNvPr id="5" name="Image 0" descr="src/simulation/docs/diagrams/05_execution_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3559"/>
            <a:ext cx="11274552" cy="46018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C9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质量证据与下一步</a:t>
            </a:r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评审闭环 · 代码基线 · 待办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7547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R1 独立评审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fail：6 条 actionable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（覆盖口径/矩阵断链/分类清单/降级包线/方法字段/计数）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41648" y="1965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C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7547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I-1~I-6 整改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193852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全部落账并闭合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项自验 + Wilson/几何复算全过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82128" y="1965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C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7547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R2 独立复审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193852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pass：完备性 rubric 5 分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仅余 2 条 advisory（不阻塞）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783080" y="3273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pytest 全绿：四套门禁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一致性 + 负向注入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0" y="3246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623560" y="3273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ruff 告警：py3.12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conda 独立环境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38160" y="3246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464040" y="3273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 verdict 可归档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数值证据 · 禁截图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A3D61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901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C9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方案批准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" y="5230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 spec 0002 与 6 项待澄清问题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8006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A3D61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4901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C9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引擎选型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98848" y="5230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1 PoC（候选 ≥2）→ ADR-0003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48006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A3D61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4901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C9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真实后端取证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39328" y="5230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替换 SyntheticBackend → 全量 46 条 verdict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配套交付：spec.md / tasks.md / review.md（.trae/specs/0002）· pytest 基线（src/simulation）· 标准指导书 + 使用说明 + 7 张设计图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割草机器人传感器套件仿真测试方案</dc:title>
  <dc:subject>PptxGenJS Presentation</dc:subject>
  <dc:creator>传感器仿真测试组</dc:creator>
  <cp:lastModifiedBy>传感器仿真测试组</cp:lastModifiedBy>
  <cp:revision>1</cp:revision>
  <dcterms:created xsi:type="dcterms:W3CDTF">2026-10-05T10:12:08Z</dcterms:created>
  <dcterms:modified xsi:type="dcterms:W3CDTF">2026-10-05T10:12:08Z</dcterms:modified>
</cp:coreProperties>
</file>